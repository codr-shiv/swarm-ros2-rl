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037a901-15d9-cea8-3173-9bb01a91392a}">
          <p14:sldIdLst>
            <p14:sldId id="256"/>
            <p14:sldId id="257"/>
          </p14:sldIdLst>
        </p14:section>
        <p14:section name="System" id="{4d16e6ff-be6b-df2a-4582-bde235e6a316}">
          <p14:sldIdLst>
            <p14:sldId id="258"/>
            <p14:sldId id="259"/>
            <p14:sldId id="260"/>
            <p14:sldId id="261"/>
          </p14:sldIdLst>
        </p14:section>
        <p14:section name="Exploration brains" id="{dabbf53d-273b-ac1c-7c10-a08e36b0a8c0}">
          <p14:sldIdLst>
            <p14:sldId id="262"/>
            <p14:sldId id="263"/>
          </p14:sldIdLst>
        </p14:section>
        <p14:section name="Reinforcement learning" id="{673579e1-f7e2-70a5-e56d-e3982fc941ee}">
          <p14:sldIdLst>
            <p14:sldId id="264"/>
            <p14:sldId id="265"/>
            <p14:sldId id="266"/>
            <p14:sldId id="267"/>
          </p14:sldIdLst>
        </p14:section>
        <p14:section name="Results" id="{2edb2173-db05-b519-2a43-410a3598c72d}">
          <p14:sldIdLst>
            <p14:sldId id="268"/>
            <p14:sldId id="269"/>
            <p14:sldId id="270"/>
            <p14:sldId id="271"/>
          </p14:sldIdLst>
        </p14:section>
        <p14:section name="Product" id="{64b4c023-f4a1-4eb3-ce64-ebd961f66964}">
          <p14:sldIdLst>
            <p14:sldId id="272"/>
          </p14:sldIdLst>
        </p14:section>
        <p14:section name="Next steps" id="{63f4a048-9861-da5c-044e-f9b76df7cb68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'Start pose is an obstacle' errors per 240 s run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fix</c:v>
                </c:pt>
              </c:strCache>
            </c:strRef>
          </c:tx>
          <c:spPr>
            <a:solidFill>
              <a:srgbClr val="9AA6B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PPO</c:v>
                  </c:pt>
                  <c:pt idx="1">
                    <c:v>Heuristic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29.5</c:v>
                </c:pt>
                <c:pt idx="1">
                  <c:v>54.8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PPO</c:v>
                  </c:pt>
                  <c:pt idx="1">
                    <c:v>Heuristic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1.5</c:v>
                </c:pt>
                <c:pt idx="1">
                  <c:v>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Seconds to full exploration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to explore (s)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9A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2C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PPO</c:v>
                  </c:pt>
                  <c:pt idx="1">
                    <c:v>Heuristic</c:v>
                  </c:pt>
                  <c:pt idx="2">
                    <c:v>Nearest frontier</c:v>
                  </c:pt>
                  <c:pt idx="3">
                    <c:v>Random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111</c:v>
                </c:pt>
                <c:pt idx="2">
                  <c:v>112</c:v>
                </c:pt>
                <c:pt idx="3">
                  <c:v>163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Mean known area (m²) in Gazebo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PPO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60 s</c:v>
                  </c:pt>
                  <c:pt idx="1">
                    <c:v>120 s</c:v>
                  </c:pt>
                  <c:pt idx="2">
                    <c:v>180 s</c:v>
                  </c:pt>
                  <c:pt idx="3">
                    <c:v>240 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18.8</c:v>
                </c:pt>
                <c:pt idx="1">
                  <c:v>28.5</c:v>
                </c:pt>
                <c:pt idx="2">
                  <c:v>36.7</c:v>
                </c:pt>
                <c:pt idx="3">
                  <c:v>41.3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Heuristic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60 s</c:v>
                  </c:pt>
                  <c:pt idx="1">
                    <c:v>120 s</c:v>
                  </c:pt>
                  <c:pt idx="2">
                    <c:v>180 s</c:v>
                  </c:pt>
                  <c:pt idx="3">
                    <c:v>240 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17.3</c:v>
                </c:pt>
                <c:pt idx="1">
                  <c:v>24.7</c:v>
                </c:pt>
                <c:pt idx="2">
                  <c:v>32.4</c:v>
                </c:pt>
                <c:pt idx="3">
                  <c:v>38.4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Time to 30 m²: PPO − heuristic (s), by run pair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PPO − heuristic, time to 30 m²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-37</c:v>
                </c:pt>
                <c:pt idx="1">
                  <c:v>-116</c:v>
                </c:pt>
                <c:pt idx="2">
                  <c:v>-4</c:v>
                </c:pt>
                <c:pt idx="3">
                  <c:v>-24</c:v>
                </c:pt>
                <c:pt idx="4">
                  <c:v>-7</c:v>
                </c:pt>
                <c:pt idx="5">
                  <c:v>-19</c:v>
                </c:pt>
                <c:pt idx="6">
                  <c:v>-43</c:v>
                </c:pt>
                <c:pt idx="7">
                  <c:v>-13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overview: a complete multi-robot exploration stack in ROS 2 Humble, plus a learned frontier-selection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Gazebo produces scans and odometry; slam_toolbox builds a map per robot; map_merge_node fuses them; the brain reads /map and sends NavigateToPose goals to each robot's Nav2, which drives the robot.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FE3EE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Multi-Robot Frontier Exploration with ROS 2 and Reinforcement Learning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FE3EE"/>
                </a:solidFill>
              </a:rPr>
              <a:t>Two TurtleBot3s · Gazebo · SLAM · map merging · Nav2 · a PPO policy that out-explores the hand-designed heuristic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map an unknown arena as fast as possible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Two robots start in an unknown 8 × 8 m arena with random obstacles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frontier is the boundary between mapped free space and unknown space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Exploration = repeatedly choosing which frontier each robot drives to next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Good choices spread the robots out and avoid long, low-yield trips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Question: can reinforcement learning make this choice better than a hand-tuned rule?</a:t>
            </a:r>
            <a:endParaRPr lang="en-US" sz="1800" dirty="0"/>
          </a:p>
        </p:txBody>
      </p:sp>
      <p:pic>
        <p:nvPicPr>
          <p:cNvPr id="4" name="Image 0" descr="demo fr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691640"/>
            <a:ext cx="493776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4480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Grey = unknown, white = mapped, crosses = each robot's chosen frontier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5120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−21 %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5943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time to map 30 m² with the RL policy (Gazebo)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5120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5943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paired Gazebo runs won by RL (p = 0.008)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data and control flow</a:t>
            </a:r>
            <a:endParaRPr lang="en-US" sz="3200" dirty="0"/>
          </a:p>
        </p:txBody>
      </p:sp>
      <p:pic>
        <p:nvPicPr>
          <p:cNvPr id="3" name="Image 0" descr="01 system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09" y="1188720"/>
            <a:ext cx="10599101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2 graph: nodes, topics and actions</a:t>
            </a:r>
            <a:endParaRPr lang="en-US" sz="3200" dirty="0"/>
          </a:p>
        </p:txBody>
      </p:sp>
      <p:pic>
        <p:nvPicPr>
          <p:cNvPr id="3" name="Image 0" descr="02 ros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5955"/>
            <a:ext cx="7589520" cy="41404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463040"/>
            <a:ext cx="3474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Everything per robot lives in its namespace: /robot1/…, /robot2/…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slam_toolbox remaps its absolute /map to a namespaced map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/map is shared: the merged occupancy grid at 2 Hz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brain talks to Nav2 through the NavigateToPose action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 and map merging</a:t>
            </a:r>
            <a:endParaRPr lang="en-US" sz="3200" dirty="0"/>
          </a:p>
        </p:txBody>
      </p:sp>
      <p:pic>
        <p:nvPicPr>
          <p:cNvPr id="3" name="Image 0" descr="03 tf 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58655"/>
            <a:ext cx="5669280" cy="38722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137160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20840" y="1627632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554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Map merge node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224028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Reprojects every cell of /robot1/map and /robot2/map into one grid. Occupied wins, then direct assignment, then averaging. Vectorised NumPy at 2 Hz.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384048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20840" y="4096512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the offsets are zero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47091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Gazebo's diff-drive odometry starts at each robot's world spawn pose, so each SLAM map is already in world coordinates. Adding the spawn pose again would double-offset the maps.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robots stuck next to obstacles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4864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09360" y="13716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37960" y="1627632"/>
            <a:ext cx="384048" cy="384048"/>
          </a:xfrm>
          <a:prstGeom prst="ellipse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1554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Cause: ghost obstacles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robot's SLAM map marks the other robot as an obstacle. Nav2 loaded that map as a static layer, so a robot driving onto a ghost could never clear it (lidar blind zone &lt; 0.12 m) and stayed stuck.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40233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4279392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4206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Fix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89204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Global costmap uses live lidar only (no static SLAM layer). Inflation 0.15 → 0.35 m, a stronger obstacle critic, and the training simulator's clearance raised to 0.3 m (policy retrained). Failed goals: 1.4 → 0 (PPO), 2.4 → 0.4 (heuristic).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brain: frontier_coordinator</a:t>
            </a:r>
            <a:endParaRPr lang="en-US" sz="3200" dirty="0"/>
          </a:p>
        </p:txBody>
      </p:sp>
      <p:pic>
        <p:nvPicPr>
          <p:cNvPr id="3" name="Image 0" descr="07 coordinator re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2228"/>
            <a:ext cx="7315200" cy="31248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4754880"/>
            <a:ext cx="6949440" cy="128016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484632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cost = distance + 50 / d(other robot's goal) + 50 · max(0, metres into other robot's half)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371600"/>
            <a:ext cx="3657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Frontiers: morphological detection on /map, clusters &gt; 15 px, merged within 1.5 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Replans every 3 s; stuck detection after ~9 s without progress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Failed goals blacklisted for 30 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Fixed hand-tuned weights: the baseline to beat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brain: the decision as a learning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one of the 12 nearest reachable frontiers for the robot that needs a goal. Invalid slots are masked (MaskablePPO).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27632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40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153 numbers: per candidate (position, distance, unknown area around it, distance to the other robot and its goal, heading, the heuristic's pick) plus global state.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1627632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Reward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240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+0.1 per newly mapped m², −0.01 per simulated second. Finishing sooner scores higher.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step = one whole trip, so episodes are ~10 decisions, not hundreds of motor commands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compact, ego-centric feature vector instead of a raw map image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deterministic 2D simulator: a clean learning signal, ~0.1 s per episode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Policy: 2×128 MLP actor and critic; PPO with 8 parallel environments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pipeline: train in 2D, deploy zero-shot to Gazebo</a:t>
            </a:r>
            <a:endParaRPr lang="en-US" sz="3200" dirty="0"/>
          </a:p>
        </p:txBody>
      </p:sp>
      <p:pic>
        <p:nvPicPr>
          <p:cNvPr id="3" name="Image 0" descr="04 rl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2552"/>
            <a:ext cx="11064240" cy="52272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2D training simulator (rl_sim)</a:t>
            </a:r>
            <a:endParaRPr lang="en-US" sz="3200" dirty="0"/>
          </a:p>
        </p:txBody>
      </p:sp>
      <p:pic>
        <p:nvPicPr>
          <p:cNvPr id="3" name="Image 0" descr="06 env st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1516"/>
            <a:ext cx="7315200" cy="372344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0" y="1371600"/>
            <a:ext cx="3657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Arena parsed from the same world file Gazebo loads, at 0.05 m resolution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360-ray lidar, 3.5 m range (TurtleBot3 LDS-01)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A* on a 0.3 m-inflated map at 0.15 m/s (stand-in for Nav2)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Frontier detection identical to the coordinator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2120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~0.1 s per episode in 2D vs ~5 min per episode in Gazebo: the reason training happens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converges within ~30k decisions</a:t>
            </a:r>
            <a:endParaRPr lang="en-US" sz="3200" dirty="0"/>
          </a:p>
        </p:txBody>
      </p:sp>
      <p:pic>
        <p:nvPicPr>
          <p:cNvPr id="3" name="Image 0" descr="20 training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570" y="1143000"/>
            <a:ext cx="7859100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1371600"/>
            <a:ext cx="32918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Reward passes the heuristic level (dashed) and stays flat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Entropy → 0: the policy becomes confident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Explained variance → 1: the critic predicts returns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KL and clip fraction fall to ≈ 0: updates stop changing the policy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300k decisions in ~25 min on a laptop CPU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Sim-to-sim transfer: ros_policy_node</a:t>
            </a:r>
            <a:endParaRPr lang="en-US" sz="3200" dirty="0"/>
          </a:p>
        </p:txBody>
      </p:sp>
      <p:pic>
        <p:nvPicPr>
          <p:cNvPr id="3" name="Image 0" descr="05 policy node t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5589"/>
            <a:ext cx="7680960" cy="39096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371600"/>
            <a:ext cx="33832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second: the live /map is resampled onto the training grid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Robot poses come from TF; goal state comes from Nav2 results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same env code builds the observation, so there's no reimplementation drift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--policy heuristic runs the baseline through identical goal handling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simulator: time to fully explore the arena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−40 %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55280" y="2377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exploration time vs the heuristic (67 s vs 111 s)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3291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vs 9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114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decisions per episode: fewer, better-chosen trips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5120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Deterministic simulator: one episode is exact.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Gazebo: the advantage transfers to the full stack</a:t>
            </a:r>
            <a:endParaRPr lang="en-US" sz="3200" dirty="0"/>
          </a:p>
        </p:txBody>
      </p:sp>
      <p:pic>
        <p:nvPicPr>
          <p:cNvPr id="3" name="Image 0" descr="04 gazebo coverage over t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7284"/>
            <a:ext cx="7132320" cy="4683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0" y="1371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36.7 m²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PPO, known area at 180 s (± 2.8)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62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 m²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Heuristic, known area at 180 s (± 3.8)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297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−21 %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5120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</a:rPr>
              <a:t>time to map 30 m² (127 s vs 160 s), 8/8 pairs, p = 0.008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8 alternating paired headless runs, 240 s each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maps faster through the run, in every pair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7607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00800" y="1280160"/>
          <a:ext cx="53035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0" y="6263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PPO faster in 8/8 pairs (mean −33 s), exact paired permutation p = 0.008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videos</a:t>
            </a:r>
            <a:endParaRPr lang="en-US" sz="3200" dirty="0"/>
          </a:p>
        </p:txBody>
      </p:sp>
      <p:pic>
        <p:nvPicPr>
          <p:cNvPr id="3" name="Image 0" descr="demo fr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76656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7548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Same moment (t = 20.5 s): PPO has mapped 48.3 m², the heuristic 43.1 m²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1371600"/>
            <a:ext cx="4206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sim2d_ppo_vs_heuristic: side-by-side main result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sim2d_ppo: the learned policy alone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sim2d_heuristic: the hand-designed coordinator rule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sim2d_nearest, sim2d_random: baselines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in final-product/media/demo-videos, with descriptions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and how to run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760720" cy="237744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final-product/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multi_robot_exploration/ launch/ config/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ROS 2 package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rl_sim/   simulator, training, policy node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models/ results/ graphs/ docs/ media/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presentation/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resource-guide/   foundational material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0" y="137160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0" y="1627632"/>
            <a:ext cx="384048" cy="384048"/>
          </a:xfrm>
          <a:prstGeom prst="ellipse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Heuristic mode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224028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Terminals 1–4: spawn, SLAM, map merge, Nav2.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Terminal 5: ros2 launch multi_robot_exploration frontier_exploration.launch.py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384048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4096512"/>
            <a:ext cx="384048" cy="38404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RL mode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470916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Terminal 1 on the benchmark arena (GAZEBO_WORLD_SEED=42).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Terminal 5: python3 rl_sim/ros_policy_node.py --model models/ppo_frontier_policy.zip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Headless benchmark: rl_sim/gazebo_test.sh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Train: python3 rl_sim/train.py (~25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Stats and charts: analyze_gazebo_tests.py, make_graphs.py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Results measured on the benchmark arena only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2D simulator assumes ideal sensing and navigation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Final-area gap at 240 s not significant; full coverage not measured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Simulation only; two robots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D3DA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9456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Train across many randomised arenas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SLAM-like sensing and navigation failures in the 2D sim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N-robot generalisation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Deploy on physical TurtleBot3s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Longer, more numerous Gazebo trials</a:t>
            </a:r>
            <a:endParaRPr lang="en-US" sz="17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40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rm Exploration">
  <a:themeElements>
    <a:clrScheme name="Swarm Exploration">
      <a:dk1>
        <a:srgbClr val="1B2430"/>
      </a:dk1>
      <a:lt1>
        <a:srgbClr val="FFFFFF"/>
      </a:lt1>
      <a:dk2>
        <a:srgbClr val="0F2B46"/>
      </a:dk2>
      <a:lt2>
        <a:srgbClr val="EEF3F7"/>
      </a:lt2>
      <a:accent1>
        <a:srgbClr val="0E7C86"/>
      </a:accent1>
      <a:accent2>
        <a:srgbClr val="1F77B4"/>
      </a:accent2>
      <a:accent3>
        <a:srgbClr val="D62728"/>
      </a:accent3>
      <a:accent4>
        <a:srgbClr val="F2A541"/>
      </a:accent4>
      <a:accent5>
        <a:srgbClr val="6B4FA0"/>
      </a:accent5>
      <a:accent6>
        <a:srgbClr val="5B6B7A"/>
      </a:accent6>
      <a:hlink>
        <a:srgbClr val="0E7C86"/>
      </a:hlink>
      <a:folHlink>
        <a:srgbClr val="6B4FA0"/>
      </a:folHlink>
    </a:clrScheme>
    <a:fontScheme name="Swarm Explor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Multi-Robot Frontier Exploration with ROS 2 and RL</dc:title>
  <dc:subject>PptxGenJS Presentation</dc:subject>
  <dc:creator>PptxGenJS</dc:creator>
  <cp:lastModifiedBy>PptxGenJS</cp:lastModifiedBy>
  <cp:revision>1</cp:revision>
  <dcterms:created xsi:type="dcterms:W3CDTF">2026-10-03T15:13:58Z</dcterms:created>
  <dcterms:modified xsi:type="dcterms:W3CDTF">2026-10-03T15:13:58Z</dcterms:modified>
</cp:coreProperties>
</file>